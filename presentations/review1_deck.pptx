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Understanding Is Not Observable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1">
                <a:solidFill>
                  <a:srgbClr val="B8D3E3"/>
                </a:solidFill>
                <a:latin typeface="Calibri"/>
              </a:rPr>
              <a:t>Why you can't tell if two minds actually connect — and what to do instead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9AB8CB"/>
                </a:solidFill>
                <a:latin typeface="Calibri"/>
              </a:rPr>
              <a:t>Review 1</a:t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9AB8CB"/>
                </a:solidFill>
                <a:latin typeface="Calibri"/>
              </a:rPr>
              <a:t>Ashok Pasala · Snigdha Gorai · VIT-AP University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Founding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D3E3"/>
                </a:solidFill>
                <a:latin typeface="Calibri"/>
              </a:rPr>
              <a:t>Where this started — July 19,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Understanding Is Not Observable  ·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2222"/>
                </a:solidFill>
                <a:latin typeface="Calibri"/>
              </a:rPr>
              <a:t>Speech is a very narrow pipe for a very fast brain.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6035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1D4E6B"/>
                </a:solidFill>
                <a:latin typeface="Calibri"/>
              </a:rPr>
              <a:t>Sensory intake:  </a:t>
            </a:r>
            <a:r>
              <a:rPr sz="1700">
                <a:solidFill>
                  <a:srgbClr val="222222"/>
                </a:solidFill>
                <a:latin typeface="Calibri"/>
              </a:rPr>
              <a:t>roughly 10⁹ bits/second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1D4E6B"/>
                </a:solidFill>
                <a:latin typeface="Calibri"/>
              </a:rPr>
              <a:t>Deliberate behaviour:  </a:t>
            </a:r>
            <a:r>
              <a:rPr sz="1700">
                <a:solidFill>
                  <a:srgbClr val="222222"/>
                </a:solidFill>
                <a:latin typeface="Calibri"/>
              </a:rPr>
              <a:t>roughly 10 bits/second (Zheng &amp; Meister, Neuron)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1D4E6B"/>
                </a:solidFill>
                <a:latin typeface="Calibri"/>
              </a:rPr>
              <a:t>Speech:  </a:t>
            </a:r>
            <a:r>
              <a:rPr sz="1700">
                <a:solidFill>
                  <a:srgbClr val="222222"/>
                </a:solidFill>
                <a:latin typeface="Calibri"/>
              </a:rPr>
              <a:t>roughly 39 bits/second, remarkably stable across 17 languages, 9 families (Coupé et al., Science Advances)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1">
                <a:solidFill>
                  <a:srgbClr val="555555"/>
                </a:solidFill>
                <a:latin typeface="Calibri"/>
              </a:rPr>
              <a:t>The obvious idea: wire two brains directly, skip the mouth and the ear, and let two minds finally exchange information near their true internal speed.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737360"/>
            <a:ext cx="4480560" cy="1188720"/>
          </a:xfrm>
          <a:prstGeom prst="rect">
            <a:avLst/>
          </a:prstGeom>
          <a:solidFill>
            <a:srgbClr val="EAF2F7"/>
          </a:solidFill>
          <a:ln w="13970">
            <a:solidFill>
              <a:srgbClr val="1D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1D4E6B"/>
                </a:solidFill>
                <a:latin typeface="Calibri"/>
              </a:rPr>
              <a:t>≈10⁹ : 10 bits/s</a:t>
            </a:r>
          </a:p>
          <a:p>
            <a:pPr algn="ctr"/>
            <a:r>
              <a:rPr sz="1150">
                <a:solidFill>
                  <a:srgbClr val="222222"/>
                </a:solidFill>
                <a:latin typeface="Calibri"/>
              </a:rPr>
              <a:t>the gap between what the senses take in and what behaviour outputs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3200400"/>
            <a:ext cx="4480560" cy="1188720"/>
          </a:xfrm>
          <a:prstGeom prst="rect">
            <a:avLst/>
          </a:prstGeom>
          <a:solidFill>
            <a:srgbClr val="EAF2F7"/>
          </a:solidFill>
          <a:ln w="13970">
            <a:solidFill>
              <a:srgbClr val="1D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1D4E6B"/>
                </a:solidFill>
                <a:latin typeface="Calibri"/>
              </a:rPr>
              <a:t>8 orders of magnitude</a:t>
            </a:r>
          </a:p>
          <a:p>
            <a:pPr algn="ctr"/>
            <a:r>
              <a:rPr sz="1150">
                <a:solidFill>
                  <a:srgbClr val="222222"/>
                </a:solidFill>
                <a:latin typeface="Calibri"/>
              </a:rPr>
              <a:t>of apparent loss — the premise that motivates every brain-interface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We Tested It — And It Broke The Premise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D3E3"/>
                </a:solidFill>
                <a:latin typeface="Calibri"/>
              </a:rPr>
              <a:t>The infinite-bandwidth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Understanding Is Not Observable  ·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Two learning agents, one holding private information, one that must act on it, connected by a channel we fully control.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We didn't widen the channel — we deleted it. The sender's private information handed to the receiver directly: free, instant, perfect, zero noise.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The physical ceiling no interface of any kind could ever exceed.</a:t>
            </a:r>
          </a:p>
        </p:txBody>
      </p:sp>
      <p:pic>
        <p:nvPicPr>
          <p:cNvPr id="9" name="Picture 8" descr="fig_oracle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34440"/>
            <a:ext cx="5943600" cy="34175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D4E6B"/>
                </a:solidFill>
                <a:latin typeface="Calibri"/>
              </a:rPr>
              <a:t>Handing over the information changed nothing. Behaviour was statistically identical to receiving nothing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Bottleneck Was Never The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D3E3"/>
                </a:solidFill>
                <a:latin typeface="Calibri"/>
              </a:rPr>
              <a:t>What was actually missing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Understanding Is Not Observable  ·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Two systems can only communicate if they already agree, in advance, on what a signal means — a shared convention, not a wire.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That same agreement is what makes it impossible to tell from outside whether real communication is happening right now.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A system genuinely tracking a partner's signal, and one merely running the same shared code on autopilot, look identical to every outside measurement.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828800"/>
            <a:ext cx="2331720" cy="1188720"/>
          </a:xfrm>
          <a:prstGeom prst="rect">
            <a:avLst/>
          </a:prstGeom>
          <a:solidFill>
            <a:srgbClr val="EAF5EF"/>
          </a:solidFill>
          <a:ln w="16510">
            <a:solidFill>
              <a:srgbClr val="2C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C6B4F"/>
                </a:solidFill>
              </a:rPr>
              <a:t>Genuinely tracking
the live signal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828800"/>
            <a:ext cx="2331720" cy="1188720"/>
          </a:xfrm>
          <a:prstGeom prst="rect">
            <a:avLst/>
          </a:prstGeom>
          <a:solidFill>
            <a:srgbClr val="FBF1E3"/>
          </a:solidFill>
          <a:ln w="16510">
            <a:solidFill>
              <a:srgbClr val="8A5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A5A1C"/>
                </a:solidFill>
              </a:rPr>
              <a:t>Running the same
code on autopilot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5212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1">
                <a:solidFill>
                  <a:srgbClr val="555555"/>
                </a:solidFill>
                <a:latin typeface="Calibri"/>
              </a:rPr>
              <a:t>From every outside measurement — synchrony, decodability, agreement — these look exactly the same.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434840"/>
            <a:ext cx="5212080" cy="1234440"/>
          </a:xfrm>
          <a:prstGeom prst="rect">
            <a:avLst/>
          </a:prstGeom>
          <a:solidFill>
            <a:srgbClr val="EAF2F7"/>
          </a:solidFill>
          <a:ln w="13970">
            <a:solidFill>
              <a:srgbClr val="1D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1D4E6B"/>
                </a:solidFill>
                <a:latin typeface="Calibri"/>
              </a:rPr>
              <a:t>0.0017</a:t>
            </a:r>
          </a:p>
          <a:p>
            <a:pPr algn="ctr"/>
            <a:r>
              <a:rPr sz="1150">
                <a:solidFill>
                  <a:srgbClr val="222222"/>
                </a:solidFill>
                <a:latin typeface="Calibri"/>
              </a:rPr>
              <a:t>reconstruction error — the partner's private goal, read almost perfectly from the receiver's own hidden layer, while its behaviour used essentially none of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So How Much Faster, Really?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D3E3"/>
                </a:solidFill>
                <a:latin typeface="Calibri"/>
              </a:rPr>
              <a:t>The honest answer to the question everyone 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Understanding Is Not Observable  ·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49240" cy="1600200"/>
          </a:xfrm>
          <a:prstGeom prst="rect">
            <a:avLst/>
          </a:prstGeom>
          <a:solidFill>
            <a:srgbClr val="EAF2F7"/>
          </a:solidFill>
          <a:ln w="13970">
            <a:solidFill>
              <a:srgbClr val="1D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1D4E6B"/>
                </a:solidFill>
                <a:latin typeface="Calibri"/>
              </a:rPr>
              <a:t>≈10⁹ vs ≈10 bits/s</a:t>
            </a:r>
          </a:p>
          <a:p>
            <a:pPr algn="ctr"/>
            <a:r>
              <a:rPr sz="1150">
                <a:solidFill>
                  <a:srgbClr val="222222"/>
                </a:solidFill>
                <a:latin typeface="Calibri"/>
              </a:rPr>
              <a:t>senses vs. deliberate behaviour — up to a hundred-million-fold gap, unrealised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417320"/>
            <a:ext cx="5349240" cy="1600200"/>
          </a:xfrm>
          <a:prstGeom prst="rect">
            <a:avLst/>
          </a:prstGeom>
          <a:solidFill>
            <a:srgbClr val="FBF1E3"/>
          </a:solidFill>
          <a:ln w="13970">
            <a:solidFill>
              <a:srgbClr val="8A5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8A5A1C"/>
                </a:solidFill>
                <a:latin typeface="Calibri"/>
              </a:rPr>
              <a:t>0%</a:t>
            </a:r>
          </a:p>
          <a:p>
            <a:pPr algn="ctr"/>
            <a:r>
              <a:rPr sz="1150">
                <a:solidFill>
                  <a:srgbClr val="222222"/>
                </a:solidFill>
                <a:latin typeface="Calibri"/>
              </a:rPr>
              <a:t>of that gap captured in the most direct test physically possible — zero channel, zero noise, information handed over 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D4E6B"/>
                </a:solidFill>
                <a:latin typeface="Calibri"/>
              </a:rPr>
              <a:t>That hundred-million-fold number is what has quietly motivated a decade of brain-interface research. The honest answer to “how much faster without the mouth” isn't a percentage above zero — it's zero, measured, because the mouth was never what was limiting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1">
                <a:solidFill>
                  <a:srgbClr val="555555"/>
                </a:solidFill>
                <a:latin typeface="Calibri"/>
              </a:rPr>
              <a:t>What's still open: whether a different kind of gain exists — not from widening the channel, but from an interface that grows a shared convention between two systems over time. Nobody has measured how much of that gap such an interface could recover, because nobody has built and tested one yet.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 Formal Result, Not Just an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D3E3"/>
                </a:solidFill>
                <a:latin typeface="Calibri"/>
              </a:rPr>
              <a:t>Theorem 1 and its consequences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Understanding Is Not Observable  ·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50" b="1">
                <a:solidFill>
                  <a:srgbClr val="1D4E6B"/>
                </a:solidFill>
                <a:latin typeface="Calibri"/>
              </a:rPr>
              <a:t>Non-identifiability (Theorem 1).  </a:t>
            </a:r>
            <a:r>
              <a:rPr sz="1650">
                <a:solidFill>
                  <a:srgbClr val="222222"/>
                </a:solidFill>
                <a:latin typeface="Calibri"/>
              </a:rPr>
              <a:t>Two dyads — one genuinely coupled, one not — produce identical observational statistics: mutual information, synchrony, transfer entropy, behavioural agreement. No functional of the observational distribution tells them apart.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50" b="1">
                <a:solidFill>
                  <a:srgbClr val="1D4E6B"/>
                </a:solidFill>
                <a:latin typeface="Calibri"/>
              </a:rPr>
              <a:t>What does work (Theorem 2).  </a:t>
            </a:r>
            <a:r>
              <a:rPr sz="1650">
                <a:solidFill>
                  <a:srgbClr val="222222"/>
                </a:solidFill>
                <a:latin typeface="Calibri"/>
              </a:rPr>
              <a:t>Three conditions identify functional coupling: adjustment when the convention is observed, instrumental variation (ordinary channel noise qualifies), or direct intervention.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50" b="1">
                <a:solidFill>
                  <a:srgbClr val="1D4E6B"/>
                </a:solidFill>
                <a:latin typeface="Calibri"/>
              </a:rPr>
              <a:t>What doesn't (Propositions 2–3).  </a:t>
            </a:r>
            <a:r>
              <a:rPr sz="1650">
                <a:solidFill>
                  <a:srgbClr val="222222"/>
                </a:solidFill>
                <a:latin typeface="Calibri"/>
              </a:rPr>
              <a:t>Temporal precedence does not identify it — transfer entropy and Granger causality inherit the full negative result despite being called “directional.” Nor does observing the receiver's internal state — it fails Pearl's front-door criterion, for structural reasons no recording resolution repairs.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You Can See the Gap, With 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D3E3"/>
                </a:solidFill>
                <a:latin typeface="Calibri"/>
              </a:rPr>
              <a:t>Proposition 1 — the state–behaviour dissociation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Understanding Is Not Observable  ·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606040" cy="1737360"/>
          </a:xfrm>
          <a:prstGeom prst="rect">
            <a:avLst/>
          </a:prstGeom>
          <a:solidFill>
            <a:srgbClr val="EAF2F7"/>
          </a:solidFill>
          <a:ln w="13970">
            <a:solidFill>
              <a:srgbClr val="1D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1D4E6B"/>
                </a:solidFill>
                <a:latin typeface="Calibri"/>
              </a:rPr>
              <a:t>R² = 0.90</a:t>
            </a:r>
          </a:p>
          <a:p>
            <a:pPr algn="ctr"/>
            <a:r>
              <a:rPr sz="1150">
                <a:solidFill>
                  <a:srgbClr val="222222"/>
                </a:solidFill>
                <a:latin typeface="Calibri"/>
              </a:rPr>
              <a:t>sender encodes its private goal into the message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17320"/>
            <a:ext cx="2606040" cy="1737360"/>
          </a:xfrm>
          <a:prstGeom prst="rect">
            <a:avLst/>
          </a:prstGeom>
          <a:solidFill>
            <a:srgbClr val="EAF2F7"/>
          </a:solidFill>
          <a:ln w="13970">
            <a:solidFill>
              <a:srgbClr val="1D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1D4E6B"/>
                </a:solidFill>
                <a:latin typeface="Calibri"/>
              </a:rPr>
              <a:t>0.0017</a:t>
            </a:r>
          </a:p>
          <a:p>
            <a:pPr algn="ctr"/>
            <a:r>
              <a:rPr sz="1150">
                <a:solidFill>
                  <a:srgbClr val="222222"/>
                </a:solidFill>
                <a:latin typeface="Calibri"/>
              </a:rPr>
              <a:t>reconstruction error — goal recoverable almost perfectly from receiver's hidden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17320"/>
            <a:ext cx="2606040" cy="1737360"/>
          </a:xfrm>
          <a:prstGeom prst="rect">
            <a:avLst/>
          </a:prstGeom>
          <a:solidFill>
            <a:srgbClr val="EAF2F7"/>
          </a:solidFill>
          <a:ln w="13970">
            <a:solidFill>
              <a:srgbClr val="1D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1D4E6B"/>
                </a:solidFill>
                <a:latin typeface="Calibri"/>
              </a:rPr>
              <a:t>z ≈ 0</a:t>
            </a:r>
          </a:p>
          <a:p>
            <a:pPr algn="ctr"/>
            <a:r>
              <a:rPr sz="1150">
                <a:solidFill>
                  <a:srgbClr val="222222"/>
                </a:solidFill>
                <a:latin typeface="Calibri"/>
              </a:rPr>
              <a:t>receiver's behaviour, statistically indistinguishable from getting no information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417320"/>
            <a:ext cx="2606040" cy="1737360"/>
          </a:xfrm>
          <a:prstGeom prst="rect">
            <a:avLst/>
          </a:prstGeom>
          <a:solidFill>
            <a:srgbClr val="EAF2F7"/>
          </a:solidFill>
          <a:ln w="13970">
            <a:solidFill>
              <a:srgbClr val="1D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1D4E6B"/>
                </a:solidFill>
                <a:latin typeface="Calibri"/>
              </a:rPr>
              <a:t>≤ 12%</a:t>
            </a:r>
          </a:p>
          <a:p>
            <a:pPr algn="ctr"/>
            <a:r>
              <a:rPr sz="1150">
                <a:solidFill>
                  <a:srgbClr val="222222"/>
                </a:solidFill>
                <a:latin typeface="Calibri"/>
              </a:rPr>
              <a:t>share of the value of the information actually captured, even after the best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22222"/>
                </a:solidFill>
                <a:latin typeface="Calibri"/>
              </a:rPr>
              <a:t>State-level coupling sits at ceiling — every current interpretability and hyperscanning measure would call this system “coupled.” Functional coupling sits at floor. Same system, same moment, completely different answer depending on what you measure.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555555"/>
                </a:solidFill>
                <a:latin typeface="Calibri"/>
              </a:rPr>
              <a:t>This is the artificial, provable version of the Clever Hans problem: a horse that appeared to do arithmetic by reading unconscious cues, not by understanding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Ablate It, or Scramble It — Then You'll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D3E3"/>
                </a:solidFill>
                <a:latin typeface="Calibri"/>
              </a:rPr>
              <a:t>The remedy: interventional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Understanding Is Not Observable  ·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760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You cannot find this gap by watching more carefully. You have to intervene: remove the signal, or scramble it, and see whether behaviour actually changes.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Randomising a signal is roughly 3× more sensitive than simply removing it, on the identical system — predicted on theoretical grounds, confirmed empirically.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But even the residual sensitivity does no real work — the test must be calibrated against the value of the information, not against zero.</a:t>
            </a:r>
          </a:p>
        </p:txBody>
      </p:sp>
      <p:pic>
        <p:nvPicPr>
          <p:cNvPr id="9" name="Picture 8" descr="paper2_noise_as_instr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77440"/>
            <a:ext cx="5486400" cy="22444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137160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55555"/>
                </a:solidFill>
                <a:latin typeface="Calibri"/>
              </a:rPr>
              <a:t>Noise as an instrument: ordinary channel noise recovers exact ground truth — inverting the usual impulse to denoise.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It Explains a Decade-Old Mystery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D3E3"/>
                </a:solidFill>
                <a:latin typeface="Calibri"/>
              </a:rPr>
              <a:t>Brain-to-brain interface throughput, 2014–2019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Understanding Is Not Observable  ·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383280" cy="1554480"/>
          </a:xfrm>
          <a:prstGeom prst="rect">
            <a:avLst/>
          </a:prstGeom>
          <a:solidFill>
            <a:srgbClr val="EAF2F7"/>
          </a:solidFill>
          <a:ln w="13970">
            <a:solidFill>
              <a:srgbClr val="1D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1D4E6B"/>
                </a:solidFill>
                <a:latin typeface="Calibri"/>
              </a:rPr>
              <a:t>0.25–0.81</a:t>
            </a:r>
          </a:p>
          <a:p>
            <a:pPr algn="ctr"/>
            <a:r>
              <a:rPr sz="1150">
                <a:solidFill>
                  <a:srgbClr val="222222"/>
                </a:solidFill>
                <a:latin typeface="Calibri"/>
              </a:rPr>
              <a:t>bits/trial — Rao et al. 2014, 64-channel EEG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417320"/>
            <a:ext cx="3383280" cy="1554480"/>
          </a:xfrm>
          <a:prstGeom prst="rect">
            <a:avLst/>
          </a:prstGeom>
          <a:solidFill>
            <a:srgbClr val="FBF1E3"/>
          </a:solidFill>
          <a:ln w="13970">
            <a:solidFill>
              <a:srgbClr val="8A5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8A5A1C"/>
                </a:solidFill>
                <a:latin typeface="Calibri"/>
              </a:rPr>
              <a:t>0.336</a:t>
            </a:r>
          </a:p>
          <a:p>
            <a:pPr algn="ctr"/>
            <a:r>
              <a:rPr sz="1150">
                <a:solidFill>
                  <a:srgbClr val="222222"/>
                </a:solidFill>
                <a:latin typeface="Calibri"/>
              </a:rPr>
              <a:t>bits/trial — Jiang et al. 2019 “BrainNet,” far more sophisticated hardware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417320"/>
            <a:ext cx="3566160" cy="1554480"/>
          </a:xfrm>
          <a:prstGeom prst="rect">
            <a:avLst/>
          </a:prstGeom>
          <a:solidFill>
            <a:srgbClr val="EAF2F7"/>
          </a:solidFill>
          <a:ln w="13970">
            <a:solidFill>
              <a:srgbClr val="1D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1D4E6B"/>
                </a:solidFill>
                <a:latin typeface="Calibri"/>
              </a:rPr>
              <a:t>Still nothing new</a:t>
            </a:r>
          </a:p>
          <a:p>
            <a:pPr algn="ctr"/>
            <a:r>
              <a:rPr sz="1150">
                <a:solidFill>
                  <a:srgbClr val="222222"/>
                </a:solidFill>
                <a:latin typeface="Calibri"/>
              </a:rPr>
              <a:t>in 7 more years — confirmed by today's literature scan, through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50">
                <a:solidFill>
                  <a:srgbClr val="222222"/>
                </a:solidFill>
                <a:latin typeface="Calibri"/>
              </a:rPr>
              <a:t>•  Throughput went down, not up, across the field's biggest hardware jump — and BrainNet's own authors say so, in their own paper, without an explanation.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50">
                <a:solidFill>
                  <a:srgbClr val="222222"/>
                </a:solidFill>
                <a:latin typeface="Calibri"/>
              </a:rPr>
              <a:t>•  On a channel-centric account, this is unexplained. On this account, it's forced: convention is installed from outside, by ordinary language, before the experiment begins — and that ceiling doesn't move when the hardware improves.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Independent Support, Found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D3E3"/>
                </a:solidFill>
                <a:latin typeface="Calibri"/>
              </a:rPr>
              <a:t>A same-day literature sweep, six passes, ahead of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Understanding Is Not Observable  ·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1D4E6B"/>
                </a:solidFill>
                <a:latin typeface="Calibri"/>
              </a:rPr>
              <a:t>Zheng &amp; Meister, Neuron 2024/25.  </a:t>
            </a:r>
            <a:r>
              <a:rPr sz="1600">
                <a:solidFill>
                  <a:srgbClr val="222222"/>
                </a:solidFill>
                <a:latin typeface="Calibri"/>
              </a:rPr>
              <a:t>Independently confirms the ~10 bits/s behavioural ceiling, with no reference to interfaces or coupling at all.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1D4E6B"/>
                </a:solidFill>
                <a:latin typeface="Calibri"/>
              </a:rPr>
              <a:t>Meyer &amp; Zamani, J. Neural Engineering 2026.  </a:t>
            </a:r>
            <a:r>
              <a:rPr sz="1600">
                <a:solidFill>
                  <a:srgbClr val="222222"/>
                </a:solidFill>
                <a:latin typeface="Calibri"/>
              </a:rPr>
              <a:t>Peer-reviewed: mainstream BCI's real constraint is an “input/output disparity,” not raw channel count.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1D4E6B"/>
                </a:solidFill>
                <a:latin typeface="Calibri"/>
              </a:rPr>
              <a:t>Varlet &amp; Grootswagers, 2024.  </a:t>
            </a:r>
            <a:r>
              <a:rPr sz="1600">
                <a:solidFill>
                  <a:srgbClr val="222222"/>
                </a:solidFill>
                <a:latin typeface="Calibri"/>
              </a:rPr>
              <a:t>Real EEG hyperscanning data: brain synchrony barely moves even when researchers directly control whether two people share real information.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1D4E6B"/>
                </a:solidFill>
                <a:latin typeface="Calibri"/>
              </a:rPr>
              <a:t>Comparative cognition.  </a:t>
            </a:r>
            <a:r>
              <a:rPr sz="1600">
                <a:solidFill>
                  <a:srgbClr val="222222"/>
                </a:solidFill>
                <a:latin typeface="Calibri"/>
              </a:rPr>
              <a:t>“Clever Hans effect” is already a named, standing methodological concern there — and playback/ablation experiments have been the field's default method for decades. The waggle-dance debate was settled with a robot bee built to manipulate the signal directly.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Checked Hard for Prior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D3E3"/>
                </a:solidFill>
                <a:latin typeface="Calibri"/>
              </a:rPr>
              <a:t>Novelty check, not just a 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Understanding Is Not Observable  ·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50">
                <a:solidFill>
                  <a:srgbClr val="222222"/>
                </a:solidFill>
                <a:latin typeface="Calibri"/>
              </a:rPr>
              <a:t>•  The two closest relatives — Kolchinsky &amp; Wolpert (2018) and Lowe et al. (2019) — read in full from primary sources, not memory.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50">
                <a:solidFill>
                  <a:srgbClr val="222222"/>
                </a:solidFill>
                <a:latin typeface="Calibri"/>
              </a:rPr>
              <a:t>•  Six independent research passes today, 17+ distinct search angles targeting the exact combination this claim needs.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50">
                <a:solidFill>
                  <a:srgbClr val="222222"/>
                </a:solidFill>
                <a:latin typeface="Calibri"/>
              </a:rPr>
              <a:t>•  No paper found combines all four: two interacting systems, a formal impossibility result, shared convention as the confounder, and a named class of defeated observational measures.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371600"/>
            <a:ext cx="4023360" cy="1920240"/>
          </a:xfrm>
          <a:prstGeom prst="rect">
            <a:avLst/>
          </a:prstGeom>
          <a:solidFill>
            <a:srgbClr val="EAF2F7"/>
          </a:solidFill>
          <a:ln w="13970">
            <a:solidFill>
              <a:srgbClr val="1D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1D4E6B"/>
                </a:solidFill>
                <a:latin typeface="Calibri"/>
              </a:rPr>
              <a:t>Novelty: holds</a:t>
            </a:r>
          </a:p>
          <a:p>
            <a:pPr algn="ctr"/>
            <a:r>
              <a:rPr sz="1150">
                <a:solidFill>
                  <a:srgbClr val="222222"/>
                </a:solidFill>
                <a:latin typeface="Calibri"/>
              </a:rPr>
              <a:t>checked from every angle available — not disprovable, but genuinely not found elsewhere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566160"/>
            <a:ext cx="40233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55555"/>
                </a:solidFill>
                <a:latin typeface="Calibri"/>
              </a:rPr>
              <a:t>One same-day preprint on multi-agent LLM communication runs a conceptually similar audit — close enough in framing to read in full and cite, not close enough to threaten the claim.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Where We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D3E3"/>
                </a:solidFill>
                <a:latin typeface="Calibri"/>
              </a:rPr>
              <a:t>Established vs. open, honestly separated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Understanding Is Not Observable  ·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394960" cy="4937760"/>
          </a:xfrm>
          <a:prstGeom prst="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C6B4F"/>
                </a:solidFill>
                <a:latin typeface="Calibri"/>
              </a:rPr>
              <a:t>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The impossibility proof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A working demonstration with real numbers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Why the gap exists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A fix that works — tested honestly, including where it hits a real wall on a real system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Survives contact with the closest prior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394960" cy="4937760"/>
          </a:xfrm>
          <a:prstGeom prst="rect">
            <a:avLst/>
          </a:prstGeom>
          <a:solidFill>
            <a:srgbClr val="FB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087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8A5A1C"/>
                </a:solidFill>
                <a:latin typeface="Calibri"/>
              </a:rPr>
              <a:t>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The human–AI experiment — fully designed, not yet run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A second empirical system outside this toy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Hyperscanning re-analysis on existing public EEG data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•  The hysteresis test — predicted, untested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Highest-Leverage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D3E3"/>
                </a:solidFill>
                <a:latin typeface="Calibri"/>
              </a:rPr>
              <a:t>Fully designed. Cheap. Not yet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Understanding Is Not Observable  ·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Real AI system, real person. A follow-up request whose wording never changes — only what was actually said beforehand changes.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Four conditions: intact · the earlier statement removed · swapped for an equally fluent but different statement · one specific detail flipped.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Watch whether the answer tracks what was truly meant, or only the shape of the sentence.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09160"/>
            <a:ext cx="11155680" cy="1280160"/>
          </a:xfrm>
          <a:prstGeom prst="rect">
            <a:avLst/>
          </a:prstGeom>
          <a:solidFill>
            <a:srgbClr val="EAF2F7"/>
          </a:solidFill>
          <a:ln>
            <a:solidFill>
              <a:srgbClr val="1D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1">
                <a:solidFill>
                  <a:srgbClr val="1D4E6B"/>
                </a:solidFill>
                <a:latin typeface="Calibri"/>
              </a:rPr>
              <a:t>If it tracks real meaning: the theory narrows, honestly. If it doesn't: the same gap shown in something people use every day — and the argument becomes a result.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27940"/>
          </a:xfrm>
          <a:prstGeom prst="rect">
            <a:avLst/>
          </a:prstGeom>
          <a:solidFill>
            <a:srgbClr val="1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 cannot tell whether two systems</a:t>
            </a:r>
          </a:p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understand each other by watching them.</a:t>
            </a:r>
          </a:p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 can only find out by testing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1">
                <a:solidFill>
                  <a:srgbClr val="B8D3E3"/>
                </a:solidFill>
                <a:latin typeface="Calibri"/>
              </a:rPr>
              <a:t>— and almost nobody currently tests it that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B8CB"/>
                </a:solidFill>
                <a:latin typeface="Calibri"/>
              </a:rPr>
              <a:t>Thank you —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